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C2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ptos"/>
              </a:defRPr>
            </a:pPr>
            <a:r>
              <a:t>Desafio DIO – Relatórios de Vendas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0">
                <a:solidFill>
                  <a:srgbClr val="5C276F"/>
                </a:solidFill>
                <a:latin typeface="Aptos"/>
              </a:defRPr>
            </a:pPr>
            <a:r>
              <a:t>Análise e construção de um relatório com mapas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804672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0">
                <a:solidFill>
                  <a:srgbClr val="696969"/>
                </a:solidFill>
                <a:latin typeface="Aptos"/>
              </a:defRPr>
            </a:pPr>
            <a:r>
              <a:t>Nesta apresentação, mostro como os dois primeiros relatórios serviram de base para montar o terceiro relatório, com foco na análise geográfica.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09160"/>
            <a:ext cx="2971800" cy="914400"/>
          </a:xfrm>
          <a:prstGeom prst="roundRect">
            <a:avLst/>
          </a:prstGeom>
          <a:solidFill>
            <a:srgbClr val="F6F3F7"/>
          </a:solidFill>
          <a:ln>
            <a:solidFill>
              <a:srgbClr val="1C8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919472"/>
            <a:ext cx="26517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1. Produtos e</a:t>
            </a:r>
            <a:br/>
            <a:r>
              <a:t>segmentos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709160"/>
            <a:ext cx="2971800" cy="914400"/>
          </a:xfrm>
          <a:prstGeom prst="roundRect">
            <a:avLst/>
          </a:prstGeom>
          <a:solidFill>
            <a:srgbClr val="F6F3F7"/>
          </a:solidFill>
          <a:ln>
            <a:solidFill>
              <a:srgbClr val="EA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4919472"/>
            <a:ext cx="26517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2. Países e</a:t>
            </a:r>
            <a:br/>
            <a:r>
              <a:t>lucro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709160"/>
            <a:ext cx="2971800" cy="914400"/>
          </a:xfrm>
          <a:prstGeom prst="roundRect">
            <a:avLst/>
          </a:prstGeom>
          <a:solidFill>
            <a:srgbClr val="F6F3F7"/>
          </a:solidFill>
          <a:ln>
            <a:solidFill>
              <a:srgbClr val="D73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4919472"/>
            <a:ext cx="26517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3. Visão</a:t>
            </a:r>
            <a:br/>
            <a:r>
              <a:t>geográfica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1. Entendendo 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O terceiro relatório não foi criado do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1C8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Primeiro relatório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136392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Mostra as vendas por produto e segmento ao longo dos meses. Também permite observar a média do preço de venda.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182880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64008" cy="1828800"/>
          </a:xfrm>
          <a:prstGeom prst="rect">
            <a:avLst/>
          </a:prstGeom>
          <a:solidFill>
            <a:srgbClr val="EA6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Segundo relatório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737360"/>
            <a:ext cx="3136392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Traz uma visão por país, com vendas, unidades vendidas e lucro. Aqui a dimensão geográfica fica mais evidente.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234440"/>
            <a:ext cx="3429000" cy="182880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234440"/>
            <a:ext cx="64008" cy="1828800"/>
          </a:xfrm>
          <a:prstGeom prst="rect">
            <a:avLst/>
          </a:prstGeom>
          <a:solidFill>
            <a:srgbClr val="D73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Relatório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737360"/>
            <a:ext cx="3136392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Usa a informação dos relatórios anteriores e acrescenta os mapas para facilitar a comparação entre os países.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0440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262626"/>
                </a:solidFill>
                <a:latin typeface="Aptos"/>
              </a:defRPr>
            </a:pPr>
            <a:r>
              <a:t>Objetivo da construção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Organizar as informações de forma visual e fácil de consultar.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Relacionar vendas, unidades e lucro com a localização dos países.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Usar os mapas para transformar números em uma visão mais rápida do resultado.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2. Primeiro relatório: produtos e segmentos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primeira tela ajuda a entender o desempenho comercial ao longo do tempo.</a:t>
            </a:r>
          </a:p>
        </p:txBody>
      </p:sp>
      <p:pic>
        <p:nvPicPr>
          <p:cNvPr id="6" name="Picture 5" descr="401d1f2b-699a-4f77-8e9f-e35621eb9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40094"/>
            <a:ext cx="7543800" cy="44270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540094"/>
            <a:ext cx="7543800" cy="4427034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14300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Aptos"/>
              </a:defRPr>
            </a:pPr>
            <a:r>
              <a:t>O que a tela mostra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337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Filtro de ano e mês, usado para selecionar o período.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Gráfico de pizza: participação das vendas por produto.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Gráfico de linha: média do preço de venda por produto.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Gráfico de colunas: vendas por mês e por segmento.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51960"/>
            <a:ext cx="3291840" cy="12344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4251960"/>
            <a:ext cx="64008" cy="1234440"/>
          </a:xfrm>
          <a:prstGeom prst="rect">
            <a:avLst/>
          </a:prstGeom>
          <a:solidFill>
            <a:srgbClr val="5C2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4379976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Ponto importante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754880"/>
            <a:ext cx="299923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Essa tela mostra principalmente o “o quê”: produtos, meses e segmentos que formam as vendas.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3. Segundo relatório: países e lucro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Aqui a análise passa a ter uma dimensão geográfica mais clara.</a:t>
            </a:r>
          </a:p>
        </p:txBody>
      </p:sp>
      <p:pic>
        <p:nvPicPr>
          <p:cNvPr id="6" name="Picture 5" descr="514b9dfd-78af-49bd-b93c-a5c03d1caf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8980"/>
            <a:ext cx="7543800" cy="45092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498980"/>
            <a:ext cx="7543800" cy="4509263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14300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Aptos"/>
              </a:defRPr>
            </a:pPr>
            <a:r>
              <a:t>Principais elementos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Indicadores no topo: total de vendas e unidades vendidas.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Pizza: distribuição do lucro entre os países.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Colunas: evolução do lucro por ano e mês.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Colunas: comparação das vendas entre os países.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97680"/>
            <a:ext cx="3291840" cy="132588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4297680"/>
            <a:ext cx="64008" cy="1325880"/>
          </a:xfrm>
          <a:prstGeom prst="rect">
            <a:avLst/>
          </a:prstGeom>
          <a:solidFill>
            <a:srgbClr val="EA6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4425696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O que mudou?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800600"/>
            <a:ext cx="2999232" cy="7315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Agora não basta saber quanto foi vendido. Também interessa saber onde as vendas e o lucro estão concentrados.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4. Terceiro relatório: levando os dados para o mapa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proposta foi aproveitar os dados anteriores e acrescentar uma leitura geográfica.</a:t>
            </a:r>
          </a:p>
        </p:txBody>
      </p:sp>
      <p:pic>
        <p:nvPicPr>
          <p:cNvPr id="6" name="Picture 5" descr="bde55622-5d9c-4b79-814d-9289ba5e34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22224"/>
            <a:ext cx="7589520" cy="44536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522224"/>
            <a:ext cx="7589520" cy="445363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14300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Aptos"/>
              </a:defRPr>
            </a:pPr>
            <a:r>
              <a:t>Estrutura da tela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572768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À esquerda: lucro por segmento e sua participação.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No alto à direita: mapa com vendas e unidades vendidas.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Embaixo à direita: mapa com o lucro por país.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Os círculos permitem comparar os países visualmente.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709160"/>
            <a:ext cx="3291840" cy="109728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4709160"/>
            <a:ext cx="64008" cy="1097280"/>
          </a:xfrm>
          <a:prstGeom prst="rect">
            <a:avLst/>
          </a:prstGeom>
          <a:solidFill>
            <a:srgbClr val="D73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4837176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Ideia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5212080"/>
            <a:ext cx="2999232" cy="5029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O mapa complementa os gráficos: além do valor, mostra a posição de cada país.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5. Como funciona a parte dos mapas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Essa é a principal diferença do terceiro relatório.</a:t>
            </a:r>
          </a:p>
        </p:txBody>
      </p:sp>
      <p:pic>
        <p:nvPicPr>
          <p:cNvPr id="6" name="Picture 5" descr="mapa_vendas_un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1143000"/>
            <a:ext cx="5047488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79575" y="1143000"/>
            <a:ext cx="5047488" cy="27432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a_luc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26" y="3977639"/>
            <a:ext cx="4818387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4126" y="3977639"/>
            <a:ext cx="4818387" cy="242316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188720"/>
            <a:ext cx="4297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C84F0"/>
                </a:solidFill>
                <a:latin typeface="Aptos"/>
              </a:defRPr>
            </a:pPr>
            <a:r>
              <a:t>Mapa 1 — vendas e 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45920"/>
            <a:ext cx="4206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Mostra os países envolvidos na análise.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O tamanho dos círculos representa a quantidade dos dados selecionados.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Ajuda a localizar rapidamente onde estão os maiores volumes.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337560"/>
            <a:ext cx="4297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5C276F"/>
                </a:solidFill>
                <a:latin typeface="Aptos"/>
              </a:defRPr>
            </a:pPr>
            <a:r>
              <a:t>Mapa 2 — lucro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79476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Usa a mesma ideia de localização.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Os círculos representam o lucro por país.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Assim, é possível comparar a distribuição do resultado financeiro.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6. Como interpretar os mapas na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920240"/>
          </a:xfrm>
          <a:prstGeom prst="rect">
            <a:avLst/>
          </a:prstGeom>
          <a:solidFill>
            <a:srgbClr val="1C8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1. Localização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37360"/>
            <a:ext cx="313639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Primeiro, identificamos o país no mapa. Isso responde “onde está o resultado?”.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2900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64008" cy="1920240"/>
          </a:xfrm>
          <a:prstGeom prst="rect">
            <a:avLst/>
          </a:prstGeom>
          <a:solidFill>
            <a:srgbClr val="EA6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2. Tamanho do círculo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737360"/>
            <a:ext cx="313639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Depois, observamos o tamanho da bolha. Ela facilita a comparação dos valores entre os países.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234440"/>
            <a:ext cx="342900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234440"/>
            <a:ext cx="64008" cy="1920240"/>
          </a:xfrm>
          <a:prstGeom prst="rect">
            <a:avLst/>
          </a:prstGeom>
          <a:solidFill>
            <a:srgbClr val="D73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36245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3. Métrica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737360"/>
            <a:ext cx="313639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Por fim, vemos qual medida está sendo exibida: vendas e unidades no primeiro mapa, lucro no segundo.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1">
                <a:solidFill>
                  <a:srgbClr val="262626"/>
                </a:solidFill>
                <a:latin typeface="Aptos"/>
              </a:defRPr>
            </a:pPr>
            <a:r>
              <a:t>Por que usar o mapa?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Ele facilita uma comparação que seria menos intuitiva em uma tabela.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Permite cruzar a informação de localização com os indicadores de negócio.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  <a:latin typeface="Aptos"/>
              </a:defRPr>
            </a:pPr>
            <a:r>
              <a:t>É uma forma de transformar uma lista de países em uma visão mais visual e rápida.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49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2626"/>
                </a:solidFill>
                <a:latin typeface="Aptos Display"/>
              </a:defRPr>
            </a:pPr>
            <a:r>
              <a:t>7.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31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O terceiro relatório é uma evolução dos dois primeiros.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1">
                <a:solidFill>
                  <a:srgbClr val="262626"/>
                </a:solidFill>
                <a:latin typeface="Aptos"/>
              </a:defRPr>
            </a:pPr>
            <a:r>
              <a:t>A construção seguiu uma lógica simples: entender os dados, organizar os indicadores e depois adicionar a visão geográfica.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33756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64008" cy="1920240"/>
          </a:xfrm>
          <a:prstGeom prst="rect">
            <a:avLst/>
          </a:prstGeom>
          <a:solidFill>
            <a:srgbClr val="1C8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68296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Relatório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304495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Produtos, meses e segmentos.</a:t>
            </a:r>
            <a:br/>
            <a:br/>
            <a:r>
              <a:t>Ajuda a entender a composição das vendas.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40280"/>
            <a:ext cx="333756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240280"/>
            <a:ext cx="64008" cy="1920240"/>
          </a:xfrm>
          <a:prstGeom prst="rect">
            <a:avLst/>
          </a:prstGeom>
          <a:solidFill>
            <a:srgbClr val="EA6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368296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Relatório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743200"/>
            <a:ext cx="304495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Países, vendas, unidades e lucro.</a:t>
            </a:r>
            <a:br/>
            <a:br/>
            <a:r>
              <a:t>Ajuda a entender a distribuição dos resultados.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40280"/>
            <a:ext cx="3337560" cy="1920240"/>
          </a:xfrm>
          <a:prstGeom prst="roundRect">
            <a:avLst/>
          </a:prstGeom>
          <a:solidFill>
            <a:srgbClr val="F6F3F7"/>
          </a:solidFill>
          <a:ln>
            <a:solidFill>
              <a:srgbClr val="E1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40280"/>
            <a:ext cx="64008" cy="1920240"/>
          </a:xfrm>
          <a:prstGeom prst="rect">
            <a:avLst/>
          </a:prstGeom>
          <a:solidFill>
            <a:srgbClr val="D73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68296"/>
            <a:ext cx="30632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Aptos"/>
              </a:defRPr>
            </a:pPr>
            <a:r>
              <a:t>Relatório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743200"/>
            <a:ext cx="3044952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Segmentos + mapas.</a:t>
            </a:r>
            <a:br/>
            <a:br/>
            <a:r>
              <a:t>Ajuda a visualizar onde esses resultados estão concentrados.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0">
                <a:solidFill>
                  <a:srgbClr val="696969"/>
                </a:solidFill>
                <a:latin typeface="Aptos"/>
              </a:defRPr>
            </a:pPr>
            <a:r>
              <a:t>O principal ganho foi transformar os dados dos relatórios anteriores em uma visão geográfica, sem perder os indicadores que já estavam sendo analisados.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919191"/>
                </a:solidFill>
                <a:latin typeface="Aptos"/>
              </a:defRPr>
            </a:pPr>
            <a:r>
              <a:t>Desafio DIO • Relatórios de Vendas    |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